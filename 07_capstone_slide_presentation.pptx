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Anton" pitchFamily="2" charset="77"/>
      <p:regular r:id="rId21"/>
    </p:embeddedFont>
    <p:embeddedFont>
      <p:font typeface="Archivo Black" panose="020B0A03020202020B04" pitchFamily="34" charset="77"/>
      <p:regular r:id="rId22"/>
    </p:embeddedFont>
    <p:embeddedFont>
      <p:font typeface="Arial Bold" panose="020B0802020202020204" pitchFamily="34" charset="77"/>
      <p:regular r:id="rId23"/>
      <p:bold r:id="rId24"/>
    </p:embeddedFont>
    <p:embeddedFont>
      <p:font typeface="Bricolage Grotesque Bold" panose="020B0605040402000204" pitchFamily="34" charset="0"/>
      <p:regular r:id="rId25"/>
      <p:bold r:id="rId26"/>
    </p:embeddedFont>
    <p:embeddedFont>
      <p:font typeface="Open Sauce" pitchFamily="2" charset="77"/>
      <p:regular r:id="rId27"/>
    </p:embeddedFont>
    <p:embeddedFont>
      <p:font typeface="Recoleta" pitchFamily="2" charset="77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68FD"/>
    <a:srgbClr val="A25A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7" autoAdjust="0"/>
    <p:restoredTop sz="94610" autoAdjust="0"/>
  </p:normalViewPr>
  <p:slideViewPr>
    <p:cSldViewPr>
      <p:cViewPr varScale="1">
        <p:scale>
          <a:sx n="56" d="100"/>
          <a:sy n="56" d="100"/>
        </p:scale>
        <p:origin x="224" y="8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E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08ED51-8C5F-D746-9BC4-85F55963EFE3}" type="datetimeFigureOut">
              <a:rPr lang="fr-ES" smtClean="0"/>
              <a:t>4/9/25</a:t>
            </a:fld>
            <a:endParaRPr lang="fr-E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E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E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E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A05FBD-049F-6945-8F85-FED1022593C1}" type="slidenum">
              <a:rPr lang="fr-ES" smtClean="0"/>
              <a:t>‹N°›</a:t>
            </a:fld>
            <a:endParaRPr lang="fr-ES"/>
          </a:p>
        </p:txBody>
      </p:sp>
    </p:spTree>
    <p:extLst>
      <p:ext uri="{BB962C8B-B14F-4D97-AF65-F5344CB8AC3E}">
        <p14:creationId xmlns:p14="http://schemas.microsoft.com/office/powerpoint/2010/main" val="2321184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E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05FBD-049F-6945-8F85-FED1022593C1}" type="slidenum">
              <a:rPr lang="fr-ES" smtClean="0"/>
              <a:t>1</a:t>
            </a:fld>
            <a:endParaRPr lang="fr-ES"/>
          </a:p>
        </p:txBody>
      </p:sp>
    </p:spTree>
    <p:extLst>
      <p:ext uri="{BB962C8B-B14F-4D97-AF65-F5344CB8AC3E}">
        <p14:creationId xmlns:p14="http://schemas.microsoft.com/office/powerpoint/2010/main" val="3795002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svg"/><Relationship Id="rId7" Type="http://schemas.openxmlformats.org/officeDocument/2006/relationships/image" Target="../media/image31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eloisebouton/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eloiseelle/capstone/blob/41b1b23f8e838fcfd516d93009e6f58c3721ab5d/06_capstone_final_report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25A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>
            <a:spLocks/>
          </p:cNvSpPr>
          <p:nvPr/>
        </p:nvSpPr>
        <p:spPr>
          <a:xfrm>
            <a:off x="12954000" y="3365252"/>
            <a:ext cx="5587377" cy="6921748"/>
          </a:xfrm>
          <a:custGeom>
            <a:avLst/>
            <a:gdLst/>
            <a:ahLst/>
            <a:cxnLst/>
            <a:rect l="l" t="t" r="r" b="b"/>
            <a:pathLst>
              <a:path w="6273584" h="12449060">
                <a:moveTo>
                  <a:pt x="0" y="0"/>
                </a:moveTo>
                <a:lnTo>
                  <a:pt x="6273585" y="0"/>
                </a:lnTo>
                <a:lnTo>
                  <a:pt x="6273585" y="12449060"/>
                </a:lnTo>
                <a:lnTo>
                  <a:pt x="0" y="124490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2082" t="-4508" r="-52082" b="-56106"/>
            </a:stretch>
          </a:blipFill>
        </p:spPr>
        <p:txBody>
          <a:bodyPr/>
          <a:lstStyle/>
          <a:p>
            <a:endParaRPr lang="fr-ES" dirty="0"/>
          </a:p>
        </p:txBody>
      </p:sp>
      <p:sp>
        <p:nvSpPr>
          <p:cNvPr id="2" name="Freeform 2"/>
          <p:cNvSpPr/>
          <p:nvPr/>
        </p:nvSpPr>
        <p:spPr>
          <a:xfrm>
            <a:off x="-1" y="4115131"/>
            <a:ext cx="5165013" cy="6171869"/>
          </a:xfrm>
          <a:custGeom>
            <a:avLst/>
            <a:gdLst/>
            <a:ahLst/>
            <a:cxnLst/>
            <a:rect l="l" t="t" r="r" b="b"/>
            <a:pathLst>
              <a:path w="5294514" h="7409430">
                <a:moveTo>
                  <a:pt x="0" y="0"/>
                </a:moveTo>
                <a:lnTo>
                  <a:pt x="5294515" y="0"/>
                </a:lnTo>
                <a:lnTo>
                  <a:pt x="5294515" y="7409429"/>
                </a:lnTo>
                <a:lnTo>
                  <a:pt x="0" y="74094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410" t="-13288" r="-30922" b="-20052"/>
            </a:stretch>
          </a:blipFill>
        </p:spPr>
        <p:txBody>
          <a:bodyPr/>
          <a:lstStyle/>
          <a:p>
            <a:endParaRPr lang="fr-ES"/>
          </a:p>
        </p:txBody>
      </p:sp>
      <p:sp>
        <p:nvSpPr>
          <p:cNvPr id="3" name="Freeform 3"/>
          <p:cNvSpPr/>
          <p:nvPr/>
        </p:nvSpPr>
        <p:spPr>
          <a:xfrm>
            <a:off x="3705996" y="3924301"/>
            <a:ext cx="6380511" cy="6362700"/>
          </a:xfrm>
          <a:custGeom>
            <a:avLst/>
            <a:gdLst/>
            <a:ahLst/>
            <a:cxnLst/>
            <a:rect l="l" t="t" r="r" b="b"/>
            <a:pathLst>
              <a:path w="6374886" h="8593558">
                <a:moveTo>
                  <a:pt x="0" y="0"/>
                </a:moveTo>
                <a:lnTo>
                  <a:pt x="6374886" y="0"/>
                </a:lnTo>
                <a:lnTo>
                  <a:pt x="6374886" y="8593557"/>
                </a:lnTo>
                <a:lnTo>
                  <a:pt x="0" y="85935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915" r="-13081" b="-39238"/>
            </a:stretch>
          </a:blipFill>
        </p:spPr>
        <p:txBody>
          <a:bodyPr/>
          <a:lstStyle/>
          <a:p>
            <a:endParaRPr lang="fr-ES"/>
          </a:p>
        </p:txBody>
      </p:sp>
      <p:sp>
        <p:nvSpPr>
          <p:cNvPr id="5" name="Freeform 5"/>
          <p:cNvSpPr/>
          <p:nvPr/>
        </p:nvSpPr>
        <p:spPr>
          <a:xfrm>
            <a:off x="8515032" y="4206269"/>
            <a:ext cx="5587377" cy="6080731"/>
          </a:xfrm>
          <a:custGeom>
            <a:avLst/>
            <a:gdLst/>
            <a:ahLst/>
            <a:cxnLst/>
            <a:rect l="l" t="t" r="r" b="b"/>
            <a:pathLst>
              <a:path w="5438904" h="5977619">
                <a:moveTo>
                  <a:pt x="0" y="0"/>
                </a:moveTo>
                <a:lnTo>
                  <a:pt x="5438904" y="0"/>
                </a:lnTo>
                <a:lnTo>
                  <a:pt x="5438904" y="5977619"/>
                </a:lnTo>
                <a:lnTo>
                  <a:pt x="0" y="59776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9904"/>
            </a:stretch>
          </a:blipFill>
        </p:spPr>
        <p:txBody>
          <a:bodyPr/>
          <a:lstStyle/>
          <a:p>
            <a:endParaRPr lang="fr-ES"/>
          </a:p>
        </p:txBody>
      </p:sp>
      <p:sp>
        <p:nvSpPr>
          <p:cNvPr id="6" name="TextBox 6"/>
          <p:cNvSpPr txBox="1"/>
          <p:nvPr/>
        </p:nvSpPr>
        <p:spPr>
          <a:xfrm>
            <a:off x="7668988" y="2100938"/>
            <a:ext cx="2846611" cy="3978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Eloise Bouton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67839" y="856338"/>
            <a:ext cx="458025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MAPPING THE RISE: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67600" y="935727"/>
            <a:ext cx="8511106" cy="721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Success of Female Rappers by City</a:t>
            </a:r>
          </a:p>
        </p:txBody>
      </p:sp>
      <p:sp>
        <p:nvSpPr>
          <p:cNvPr id="9" name="Freeform 9"/>
          <p:cNvSpPr/>
          <p:nvPr/>
        </p:nvSpPr>
        <p:spPr>
          <a:xfrm>
            <a:off x="5893756" y="2815015"/>
            <a:ext cx="2138749" cy="550237"/>
          </a:xfrm>
          <a:custGeom>
            <a:avLst/>
            <a:gdLst/>
            <a:ahLst/>
            <a:cxnLst/>
            <a:rect l="l" t="t" r="r" b="b"/>
            <a:pathLst>
              <a:path w="2138749" h="550237">
                <a:moveTo>
                  <a:pt x="0" y="0"/>
                </a:moveTo>
                <a:lnTo>
                  <a:pt x="2138749" y="0"/>
                </a:lnTo>
                <a:lnTo>
                  <a:pt x="2138749" y="550237"/>
                </a:lnTo>
                <a:lnTo>
                  <a:pt x="0" y="5502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78285" b="-78285"/>
            </a:stretch>
          </a:blipFill>
        </p:spPr>
        <p:txBody>
          <a:bodyPr/>
          <a:lstStyle/>
          <a:p>
            <a:endParaRPr lang="fr-ES"/>
          </a:p>
        </p:txBody>
      </p:sp>
      <p:sp>
        <p:nvSpPr>
          <p:cNvPr id="10" name="TextBox 10"/>
          <p:cNvSpPr txBox="1"/>
          <p:nvPr/>
        </p:nvSpPr>
        <p:spPr>
          <a:xfrm>
            <a:off x="8115485" y="2891215"/>
            <a:ext cx="4000315" cy="3574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dirty="0">
                <a:solidFill>
                  <a:srgbClr val="FFFFFF"/>
                </a:solidFill>
                <a:latin typeface="Recoleta"/>
                <a:ea typeface="Recoleta"/>
                <a:cs typeface="Recoleta"/>
                <a:sym typeface="Recoleta"/>
              </a:rPr>
              <a:t>Capstone Project | July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25A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69232" y="3724275"/>
            <a:ext cx="15852239" cy="271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 The success of rap tracks often depends on </a:t>
            </a:r>
            <a:r>
              <a:rPr lang="en-US" sz="30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geography</a:t>
            </a:r>
            <a:r>
              <a:rPr lang="en-US" sz="3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lang="en-US" sz="30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Female rappers </a:t>
            </a:r>
            <a:r>
              <a:rPr lang="en-US" sz="3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are more visible than ever, yet still </a:t>
            </a:r>
            <a:r>
              <a:rPr lang="en-US" sz="30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underrepresented</a:t>
            </a:r>
            <a:r>
              <a:rPr lang="en-US" sz="3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in charts, playlists, and industry spaces.</a:t>
            </a:r>
          </a:p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 This project explores the link between </a:t>
            </a:r>
            <a:r>
              <a:rPr lang="en-US" sz="30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city of origin </a:t>
            </a:r>
            <a:r>
              <a:rPr lang="en-US" sz="3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30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streaming success for female rap artists</a:t>
            </a:r>
            <a:r>
              <a:rPr lang="en-US" sz="3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592649" y="933450"/>
            <a:ext cx="5102701" cy="731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Why This Matters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25A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66115" y="1044171"/>
            <a:ext cx="9555771" cy="8214129"/>
          </a:xfrm>
          <a:custGeom>
            <a:avLst/>
            <a:gdLst/>
            <a:ahLst/>
            <a:cxnLst/>
            <a:rect l="l" t="t" r="r" b="b"/>
            <a:pathLst>
              <a:path w="9555771" h="8214129">
                <a:moveTo>
                  <a:pt x="0" y="0"/>
                </a:moveTo>
                <a:lnTo>
                  <a:pt x="9555770" y="0"/>
                </a:lnTo>
                <a:lnTo>
                  <a:pt x="9555770" y="8214129"/>
                </a:lnTo>
                <a:lnTo>
                  <a:pt x="0" y="82141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E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25A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32159" y="2028776"/>
            <a:ext cx="10023682" cy="4940175"/>
          </a:xfrm>
          <a:custGeom>
            <a:avLst/>
            <a:gdLst/>
            <a:ahLst/>
            <a:cxnLst/>
            <a:rect l="l" t="t" r="r" b="b"/>
            <a:pathLst>
              <a:path w="10023682" h="4940175">
                <a:moveTo>
                  <a:pt x="0" y="0"/>
                </a:moveTo>
                <a:lnTo>
                  <a:pt x="10023682" y="0"/>
                </a:lnTo>
                <a:lnTo>
                  <a:pt x="10023682" y="4940175"/>
                </a:lnTo>
                <a:lnTo>
                  <a:pt x="0" y="49401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ES"/>
          </a:p>
        </p:txBody>
      </p:sp>
      <p:sp>
        <p:nvSpPr>
          <p:cNvPr id="3" name="TextBox 3"/>
          <p:cNvSpPr txBox="1"/>
          <p:nvPr/>
        </p:nvSpPr>
        <p:spPr>
          <a:xfrm>
            <a:off x="6690598" y="615315"/>
            <a:ext cx="4906804" cy="731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F9FAFC"/>
                </a:solidFill>
                <a:latin typeface="Archivo Black"/>
                <a:ea typeface="Archivo Black"/>
                <a:cs typeface="Archivo Black"/>
                <a:sym typeface="Archivo Black"/>
              </a:rPr>
              <a:t>Industry Context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108288" y="7362784"/>
            <a:ext cx="14943440" cy="1568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 Female rappers face persistent </a:t>
            </a:r>
            <a:r>
              <a:rPr lang="en-US" sz="30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gender disparities </a:t>
            </a:r>
            <a:r>
              <a:rPr lang="en-US" sz="3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 male-dominated industry.</a:t>
            </a:r>
          </a:p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 Women made up only </a:t>
            </a:r>
            <a:r>
              <a:rPr lang="en-US" sz="30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23.3%</a:t>
            </a:r>
            <a:r>
              <a:rPr lang="en-US" sz="3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of Billboard Hot 100 artists in 2021.</a:t>
            </a:r>
          </a:p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 Successful figures like </a:t>
            </a:r>
            <a:r>
              <a:rPr lang="en-US" sz="30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Nicki Minaj </a:t>
            </a:r>
            <a:r>
              <a:rPr lang="en-US" sz="3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are exceptions.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25A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93688" y="4793754"/>
            <a:ext cx="1603020" cy="2074496"/>
          </a:xfrm>
          <a:custGeom>
            <a:avLst/>
            <a:gdLst/>
            <a:ahLst/>
            <a:cxnLst/>
            <a:rect l="l" t="t" r="r" b="b"/>
            <a:pathLst>
              <a:path w="1603020" h="2074496">
                <a:moveTo>
                  <a:pt x="0" y="0"/>
                </a:moveTo>
                <a:lnTo>
                  <a:pt x="1603019" y="0"/>
                </a:lnTo>
                <a:lnTo>
                  <a:pt x="1603019" y="2074496"/>
                </a:lnTo>
                <a:lnTo>
                  <a:pt x="0" y="2074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ES"/>
          </a:p>
        </p:txBody>
      </p:sp>
      <p:sp>
        <p:nvSpPr>
          <p:cNvPr id="3" name="Freeform 3"/>
          <p:cNvSpPr/>
          <p:nvPr/>
        </p:nvSpPr>
        <p:spPr>
          <a:xfrm>
            <a:off x="2083506" y="7420151"/>
            <a:ext cx="1637724" cy="2034439"/>
          </a:xfrm>
          <a:custGeom>
            <a:avLst/>
            <a:gdLst/>
            <a:ahLst/>
            <a:cxnLst/>
            <a:rect l="l" t="t" r="r" b="b"/>
            <a:pathLst>
              <a:path w="1637724" h="2034439">
                <a:moveTo>
                  <a:pt x="0" y="0"/>
                </a:moveTo>
                <a:lnTo>
                  <a:pt x="1637723" y="0"/>
                </a:lnTo>
                <a:lnTo>
                  <a:pt x="1637723" y="2034440"/>
                </a:lnTo>
                <a:lnTo>
                  <a:pt x="0" y="20344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ES"/>
          </a:p>
        </p:txBody>
      </p:sp>
      <p:sp>
        <p:nvSpPr>
          <p:cNvPr id="4" name="Freeform 4"/>
          <p:cNvSpPr/>
          <p:nvPr/>
        </p:nvSpPr>
        <p:spPr>
          <a:xfrm>
            <a:off x="2083506" y="2169244"/>
            <a:ext cx="2023384" cy="2072608"/>
          </a:xfrm>
          <a:custGeom>
            <a:avLst/>
            <a:gdLst/>
            <a:ahLst/>
            <a:cxnLst/>
            <a:rect l="l" t="t" r="r" b="b"/>
            <a:pathLst>
              <a:path w="2023384" h="2072608">
                <a:moveTo>
                  <a:pt x="0" y="0"/>
                </a:moveTo>
                <a:lnTo>
                  <a:pt x="2023383" y="0"/>
                </a:lnTo>
                <a:lnTo>
                  <a:pt x="2023383" y="2072609"/>
                </a:lnTo>
                <a:lnTo>
                  <a:pt x="0" y="20726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ES"/>
          </a:p>
        </p:txBody>
      </p:sp>
      <p:sp>
        <p:nvSpPr>
          <p:cNvPr id="5" name="TextBox 5"/>
          <p:cNvSpPr txBox="1"/>
          <p:nvPr/>
        </p:nvSpPr>
        <p:spPr>
          <a:xfrm>
            <a:off x="6216729" y="615315"/>
            <a:ext cx="7042071" cy="7315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dirty="0">
                <a:solidFill>
                  <a:srgbClr val="F9FAFC"/>
                </a:solidFill>
                <a:latin typeface="Archivo Black"/>
                <a:ea typeface="Archivo Black"/>
                <a:cs typeface="Archivo Black"/>
                <a:sym typeface="Archivo Black"/>
              </a:rPr>
              <a:t>Research Questions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612652" y="3028002"/>
            <a:ext cx="10885545" cy="4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Which </a:t>
            </a:r>
            <a:r>
              <a:rPr lang="en-US" sz="30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U.S. cities </a:t>
            </a:r>
            <a:r>
              <a:rPr lang="en-US" sz="3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produce the most successful female rappers?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12652" y="5478028"/>
            <a:ext cx="12646648" cy="1030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How are female rappers represented across </a:t>
            </a:r>
            <a:r>
              <a:rPr lang="en-US" sz="30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streaming</a:t>
            </a:r>
            <a:r>
              <a:rPr lang="en-US" sz="3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chart platforms?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67067" y="8084946"/>
            <a:ext cx="12892233" cy="1030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Can we </a:t>
            </a:r>
            <a:r>
              <a:rPr lang="en-US" sz="30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predict</a:t>
            </a:r>
            <a:r>
              <a:rPr lang="en-US" sz="3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which artists are likely to succeed based on </a:t>
            </a:r>
            <a:r>
              <a:rPr lang="en-US" sz="30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city </a:t>
            </a:r>
          </a:p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30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platform data</a:t>
            </a:r>
            <a:r>
              <a:rPr lang="en-US" sz="3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25A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487951" y="2675442"/>
            <a:ext cx="2498455" cy="751618"/>
          </a:xfrm>
          <a:custGeom>
            <a:avLst/>
            <a:gdLst/>
            <a:ahLst/>
            <a:cxnLst/>
            <a:rect l="l" t="t" r="r" b="b"/>
            <a:pathLst>
              <a:path w="2498455" h="751618">
                <a:moveTo>
                  <a:pt x="0" y="0"/>
                </a:moveTo>
                <a:lnTo>
                  <a:pt x="2498454" y="0"/>
                </a:lnTo>
                <a:lnTo>
                  <a:pt x="2498454" y="751618"/>
                </a:lnTo>
                <a:lnTo>
                  <a:pt x="0" y="7516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ES"/>
          </a:p>
        </p:txBody>
      </p:sp>
      <p:sp>
        <p:nvSpPr>
          <p:cNvPr id="3" name="Freeform 3"/>
          <p:cNvSpPr/>
          <p:nvPr/>
        </p:nvSpPr>
        <p:spPr>
          <a:xfrm>
            <a:off x="5487951" y="3969125"/>
            <a:ext cx="2498455" cy="751618"/>
          </a:xfrm>
          <a:custGeom>
            <a:avLst/>
            <a:gdLst/>
            <a:ahLst/>
            <a:cxnLst/>
            <a:rect l="l" t="t" r="r" b="b"/>
            <a:pathLst>
              <a:path w="2498455" h="751618">
                <a:moveTo>
                  <a:pt x="0" y="0"/>
                </a:moveTo>
                <a:lnTo>
                  <a:pt x="2498454" y="0"/>
                </a:lnTo>
                <a:lnTo>
                  <a:pt x="2498454" y="751618"/>
                </a:lnTo>
                <a:lnTo>
                  <a:pt x="0" y="7516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ES"/>
          </a:p>
        </p:txBody>
      </p:sp>
      <p:sp>
        <p:nvSpPr>
          <p:cNvPr id="4" name="Freeform 4"/>
          <p:cNvSpPr/>
          <p:nvPr/>
        </p:nvSpPr>
        <p:spPr>
          <a:xfrm>
            <a:off x="5238293" y="5331999"/>
            <a:ext cx="2985335" cy="585956"/>
          </a:xfrm>
          <a:custGeom>
            <a:avLst/>
            <a:gdLst/>
            <a:ahLst/>
            <a:cxnLst/>
            <a:rect l="l" t="t" r="r" b="b"/>
            <a:pathLst>
              <a:path w="2985335" h="585956">
                <a:moveTo>
                  <a:pt x="0" y="0"/>
                </a:moveTo>
                <a:lnTo>
                  <a:pt x="2985335" y="0"/>
                </a:lnTo>
                <a:lnTo>
                  <a:pt x="2985335" y="585957"/>
                </a:lnTo>
                <a:lnTo>
                  <a:pt x="0" y="5859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11101" b="-198379"/>
            </a:stretch>
          </a:blipFill>
        </p:spPr>
        <p:txBody>
          <a:bodyPr/>
          <a:lstStyle/>
          <a:p>
            <a:endParaRPr lang="fr-ES"/>
          </a:p>
        </p:txBody>
      </p:sp>
      <p:sp>
        <p:nvSpPr>
          <p:cNvPr id="5" name="Freeform 5"/>
          <p:cNvSpPr/>
          <p:nvPr/>
        </p:nvSpPr>
        <p:spPr>
          <a:xfrm>
            <a:off x="6019670" y="6527556"/>
            <a:ext cx="2203958" cy="539252"/>
          </a:xfrm>
          <a:custGeom>
            <a:avLst/>
            <a:gdLst/>
            <a:ahLst/>
            <a:cxnLst/>
            <a:rect l="l" t="t" r="r" b="b"/>
            <a:pathLst>
              <a:path w="2203958" h="539252">
                <a:moveTo>
                  <a:pt x="0" y="0"/>
                </a:moveTo>
                <a:lnTo>
                  <a:pt x="2203958" y="0"/>
                </a:lnTo>
                <a:lnTo>
                  <a:pt x="2203958" y="539252"/>
                </a:lnTo>
                <a:lnTo>
                  <a:pt x="0" y="5392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208" t="-200713" r="-11209" b="-191442"/>
            </a:stretch>
          </a:blipFill>
        </p:spPr>
        <p:txBody>
          <a:bodyPr/>
          <a:lstStyle/>
          <a:p>
            <a:endParaRPr lang="fr-ES"/>
          </a:p>
        </p:txBody>
      </p:sp>
      <p:sp>
        <p:nvSpPr>
          <p:cNvPr id="6" name="Freeform 6"/>
          <p:cNvSpPr/>
          <p:nvPr/>
        </p:nvSpPr>
        <p:spPr>
          <a:xfrm>
            <a:off x="6659052" y="7609733"/>
            <a:ext cx="1564576" cy="486406"/>
          </a:xfrm>
          <a:custGeom>
            <a:avLst/>
            <a:gdLst/>
            <a:ahLst/>
            <a:cxnLst/>
            <a:rect l="l" t="t" r="r" b="b"/>
            <a:pathLst>
              <a:path w="1564576" h="486406">
                <a:moveTo>
                  <a:pt x="0" y="0"/>
                </a:moveTo>
                <a:lnTo>
                  <a:pt x="1564576" y="0"/>
                </a:lnTo>
                <a:lnTo>
                  <a:pt x="1564576" y="486406"/>
                </a:lnTo>
                <a:lnTo>
                  <a:pt x="0" y="4864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626" t="-120696" r="-3377" b="-120275"/>
            </a:stretch>
          </a:blipFill>
        </p:spPr>
        <p:txBody>
          <a:bodyPr/>
          <a:lstStyle/>
          <a:p>
            <a:endParaRPr lang="fr-ES"/>
          </a:p>
        </p:txBody>
      </p:sp>
      <p:sp>
        <p:nvSpPr>
          <p:cNvPr id="7" name="TextBox 7"/>
          <p:cNvSpPr txBox="1"/>
          <p:nvPr/>
        </p:nvSpPr>
        <p:spPr>
          <a:xfrm>
            <a:off x="7116122" y="615315"/>
            <a:ext cx="5075878" cy="7315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dirty="0">
                <a:solidFill>
                  <a:srgbClr val="F9FAFC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Datasets Used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23628" y="2698826"/>
            <a:ext cx="6193605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Top Hip Hop Artists &amp; Tracks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54893" y="3992509"/>
            <a:ext cx="6193605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Top 10K Streamed Songs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54893" y="5287909"/>
            <a:ext cx="6193605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Female Rappers Playlist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54893" y="6485783"/>
            <a:ext cx="6193605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Hot 100 Songs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54893" y="7500511"/>
            <a:ext cx="6193605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Best Rap Cities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25A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54203" y="933450"/>
            <a:ext cx="8179594" cy="731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F9FAFC"/>
                </a:solidFill>
                <a:latin typeface="Archivo Black"/>
                <a:ea typeface="Archivo Black"/>
                <a:cs typeface="Archivo Black"/>
                <a:sym typeface="Archivo Black"/>
              </a:rPr>
              <a:t>Methodology: Data Cleaning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581400" y="3695700"/>
            <a:ext cx="13099351" cy="15686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•  Manually reviewed and </a:t>
            </a:r>
            <a:r>
              <a:rPr lang="en-US" sz="3000" b="1" dirty="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tagged</a:t>
            </a:r>
            <a:r>
              <a:rPr lang="en-US" sz="3000" dirty="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 artists by </a:t>
            </a:r>
            <a:r>
              <a:rPr lang="en-US" sz="3000" b="1" dirty="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gender</a:t>
            </a:r>
            <a:r>
              <a:rPr lang="en-US" sz="3000" dirty="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3000" b="1" dirty="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city </a:t>
            </a:r>
            <a:r>
              <a:rPr lang="en-US" sz="3000" dirty="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of origin.</a:t>
            </a:r>
          </a:p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lang="en-US" sz="3000" b="1" dirty="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Normalized</a:t>
            </a:r>
            <a:r>
              <a:rPr lang="en-US" sz="3000" dirty="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 location data (e.g., grouped NYC boroughs under “NYC”).</a:t>
            </a:r>
          </a:p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lang="en-US" sz="3000" b="1" dirty="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Filtered</a:t>
            </a:r>
            <a:r>
              <a:rPr lang="en-US" sz="3000" dirty="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 out non-rap artists and singers like Beyoncé.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25A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38400" y="1181100"/>
            <a:ext cx="14494827" cy="7315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dirty="0">
                <a:solidFill>
                  <a:srgbClr val="F9FAFC"/>
                </a:solidFill>
                <a:latin typeface="Archivo Black"/>
                <a:ea typeface="Archivo Black"/>
                <a:cs typeface="Archivo Black"/>
                <a:sym typeface="Archivo Black"/>
              </a:rPr>
              <a:t>Methodology: Feature Engineering &amp; Modeling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733800" y="3619500"/>
            <a:ext cx="12573000" cy="26459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•  Created a “</a:t>
            </a:r>
            <a:r>
              <a:rPr lang="en-US" sz="3000" b="1" dirty="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mention count</a:t>
            </a:r>
            <a:r>
              <a:rPr lang="en-US" sz="3000" dirty="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” from artist appearances across platforms.</a:t>
            </a:r>
          </a:p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•  Defined </a:t>
            </a:r>
            <a:r>
              <a:rPr lang="en-US" sz="3000" b="1" dirty="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hit artists </a:t>
            </a:r>
            <a:r>
              <a:rPr lang="en-US" sz="3000" dirty="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as those with 5+ mentions.</a:t>
            </a:r>
          </a:p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lang="en-US" sz="3000" b="1" dirty="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Preprocessed</a:t>
            </a:r>
            <a:r>
              <a:rPr lang="en-US" sz="3000" dirty="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 data: one-hot encoded cities, scaled </a:t>
            </a:r>
            <a:r>
              <a:rPr lang="en-US" sz="3000" dirty="0" err="1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numerics</a:t>
            </a:r>
            <a:r>
              <a:rPr lang="en-US" sz="3000" dirty="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, imputed missing values.</a:t>
            </a:r>
          </a:p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•  Trained a </a:t>
            </a:r>
            <a:r>
              <a:rPr lang="en-US" sz="3000" b="1" dirty="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Random Forest Classifier </a:t>
            </a:r>
            <a:r>
              <a:rPr lang="en-US" sz="3000" dirty="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to predict hit probability.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25A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163264" y="1714500"/>
            <a:ext cx="8400336" cy="5540791"/>
          </a:xfrm>
          <a:custGeom>
            <a:avLst/>
            <a:gdLst/>
            <a:ahLst/>
            <a:cxnLst/>
            <a:rect l="l" t="t" r="r" b="b"/>
            <a:pathLst>
              <a:path w="7977769" h="5315189">
                <a:moveTo>
                  <a:pt x="0" y="0"/>
                </a:moveTo>
                <a:lnTo>
                  <a:pt x="7977769" y="0"/>
                </a:lnTo>
                <a:lnTo>
                  <a:pt x="7977769" y="5315189"/>
                </a:lnTo>
                <a:lnTo>
                  <a:pt x="0" y="53151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ES"/>
          </a:p>
        </p:txBody>
      </p:sp>
      <p:sp>
        <p:nvSpPr>
          <p:cNvPr id="3" name="TextBox 3"/>
          <p:cNvSpPr txBox="1"/>
          <p:nvPr/>
        </p:nvSpPr>
        <p:spPr>
          <a:xfrm>
            <a:off x="3378438" y="620234"/>
            <a:ext cx="12547362" cy="7315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dirty="0">
                <a:solidFill>
                  <a:srgbClr val="F9FAFC"/>
                </a:solidFill>
                <a:latin typeface="Archivo Black"/>
                <a:ea typeface="Archivo Black"/>
                <a:cs typeface="Archivo Black"/>
                <a:sym typeface="Archivo Black"/>
              </a:rPr>
              <a:t>Key Findings: New York City Dominates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722362" y="7722016"/>
            <a:ext cx="10843275" cy="164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lang="en-US" sz="3000" b="1">
                <a:solidFill>
                  <a:srgbClr val="F9FAFC"/>
                </a:solidFill>
                <a:latin typeface="Arial Bold"/>
                <a:ea typeface="Arial Bold"/>
                <a:cs typeface="Arial Bold"/>
                <a:sym typeface="Arial Bold"/>
              </a:rPr>
              <a:t>New York City </a:t>
            </a:r>
            <a:r>
              <a:rPr lang="en-US" sz="300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leads in artist </a:t>
            </a:r>
            <a:r>
              <a:rPr lang="en-US" sz="3000" b="1">
                <a:solidFill>
                  <a:srgbClr val="F9FAFC"/>
                </a:solidFill>
                <a:latin typeface="Arial Bold"/>
                <a:ea typeface="Arial Bold"/>
                <a:cs typeface="Arial Bold"/>
                <a:sym typeface="Arial Bold"/>
              </a:rPr>
              <a:t>representation</a:t>
            </a:r>
            <a:r>
              <a:rPr lang="en-US" sz="300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3000" b="1">
                <a:solidFill>
                  <a:srgbClr val="F9FAFC"/>
                </a:solidFill>
                <a:latin typeface="Arial Bold"/>
                <a:ea typeface="Arial Bold"/>
                <a:cs typeface="Arial Bold"/>
                <a:sym typeface="Arial Bold"/>
              </a:rPr>
              <a:t>mentions</a:t>
            </a:r>
            <a:r>
              <a:rPr lang="en-US" sz="300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•  Home to legends like </a:t>
            </a:r>
            <a:r>
              <a:rPr lang="en-US" sz="3000" b="1">
                <a:solidFill>
                  <a:srgbClr val="F9FAFC"/>
                </a:solidFill>
                <a:latin typeface="Arial Bold"/>
                <a:ea typeface="Arial Bold"/>
                <a:cs typeface="Arial Bold"/>
                <a:sym typeface="Arial Bold"/>
              </a:rPr>
              <a:t>Nicki Minaj</a:t>
            </a:r>
            <a:r>
              <a:rPr lang="en-US" sz="300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3000" b="1">
                <a:solidFill>
                  <a:srgbClr val="F9FAFC"/>
                </a:solidFill>
                <a:latin typeface="Arial Bold"/>
                <a:ea typeface="Arial Bold"/>
                <a:cs typeface="Arial Bold"/>
                <a:sym typeface="Arial Bold"/>
              </a:rPr>
              <a:t>Cardi B</a:t>
            </a:r>
            <a:r>
              <a:rPr lang="en-US" sz="300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•  Highest </a:t>
            </a:r>
            <a:r>
              <a:rPr lang="en-US" sz="3000" b="1">
                <a:solidFill>
                  <a:srgbClr val="F9FAFC"/>
                </a:solidFill>
                <a:latin typeface="Arial Bold"/>
                <a:ea typeface="Arial Bold"/>
                <a:cs typeface="Arial Bold"/>
                <a:sym typeface="Arial Bold"/>
              </a:rPr>
              <a:t>cross-platform presence</a:t>
            </a:r>
            <a:r>
              <a:rPr lang="en-US" sz="300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 (Spotify, TIDAL, Billboard.)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25A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84909" y="1745593"/>
            <a:ext cx="11301259" cy="6074427"/>
          </a:xfrm>
          <a:custGeom>
            <a:avLst/>
            <a:gdLst/>
            <a:ahLst/>
            <a:cxnLst/>
            <a:rect l="l" t="t" r="r" b="b"/>
            <a:pathLst>
              <a:path w="11301259" h="6074427">
                <a:moveTo>
                  <a:pt x="0" y="0"/>
                </a:moveTo>
                <a:lnTo>
                  <a:pt x="11301259" y="0"/>
                </a:lnTo>
                <a:lnTo>
                  <a:pt x="11301259" y="6074426"/>
                </a:lnTo>
                <a:lnTo>
                  <a:pt x="0" y="60744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ES"/>
          </a:p>
        </p:txBody>
      </p:sp>
      <p:sp>
        <p:nvSpPr>
          <p:cNvPr id="3" name="TextBox 3"/>
          <p:cNvSpPr txBox="1"/>
          <p:nvPr/>
        </p:nvSpPr>
        <p:spPr>
          <a:xfrm>
            <a:off x="4898615" y="434945"/>
            <a:ext cx="10058561" cy="7315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dirty="0">
                <a:solidFill>
                  <a:srgbClr val="F9FAFC"/>
                </a:solidFill>
                <a:latin typeface="Archivo Black"/>
                <a:ea typeface="Archivo Black"/>
                <a:cs typeface="Archivo Black"/>
                <a:sym typeface="Archivo Black"/>
              </a:rPr>
              <a:t>Houston and LA Dominate Too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13901" y="8413087"/>
            <a:ext cx="10843275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These cities provide the </a:t>
            </a:r>
            <a:r>
              <a:rPr lang="en-US" sz="3000" b="1">
                <a:solidFill>
                  <a:srgbClr val="F9FAFC"/>
                </a:solidFill>
                <a:latin typeface="Arial Bold"/>
                <a:ea typeface="Arial Bold"/>
                <a:cs typeface="Arial Bold"/>
                <a:sym typeface="Arial Bold"/>
              </a:rPr>
              <a:t>cultural</a:t>
            </a:r>
            <a:r>
              <a:rPr lang="en-US" sz="300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3000" b="1">
                <a:solidFill>
                  <a:srgbClr val="F9FAFC"/>
                </a:solidFill>
                <a:latin typeface="Arial Bold"/>
                <a:ea typeface="Arial Bold"/>
                <a:cs typeface="Arial Bold"/>
                <a:sym typeface="Arial Bold"/>
              </a:rPr>
              <a:t>industrial </a:t>
            </a:r>
            <a:r>
              <a:rPr lang="en-US" sz="300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ecosystems female rappers need to thrive.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25A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74378" y="1603645"/>
            <a:ext cx="11349221" cy="5630005"/>
          </a:xfrm>
          <a:custGeom>
            <a:avLst/>
            <a:gdLst/>
            <a:ahLst/>
            <a:cxnLst/>
            <a:rect l="l" t="t" r="r" b="b"/>
            <a:pathLst>
              <a:path w="11349221" h="5630005">
                <a:moveTo>
                  <a:pt x="0" y="0"/>
                </a:moveTo>
                <a:lnTo>
                  <a:pt x="11349220" y="0"/>
                </a:lnTo>
                <a:lnTo>
                  <a:pt x="11349220" y="5630004"/>
                </a:lnTo>
                <a:lnTo>
                  <a:pt x="0" y="56300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90" t="-4837" r="-3708" b="-2198"/>
            </a:stretch>
          </a:blipFill>
        </p:spPr>
        <p:txBody>
          <a:bodyPr/>
          <a:lstStyle/>
          <a:p>
            <a:endParaRPr lang="fr-ES"/>
          </a:p>
        </p:txBody>
      </p:sp>
      <p:sp>
        <p:nvSpPr>
          <p:cNvPr id="3" name="TextBox 3"/>
          <p:cNvSpPr txBox="1"/>
          <p:nvPr/>
        </p:nvSpPr>
        <p:spPr>
          <a:xfrm>
            <a:off x="5558344" y="607511"/>
            <a:ext cx="7781290" cy="731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dirty="0">
                <a:solidFill>
                  <a:srgbClr val="F9FAFC"/>
                </a:solidFill>
                <a:latin typeface="Archivo Black"/>
                <a:ea typeface="Archivo Black"/>
                <a:cs typeface="Archivo Black"/>
                <a:sym typeface="Archivo Black"/>
              </a:rPr>
              <a:t>Cross-Platform Dominance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96512" y="7592742"/>
            <a:ext cx="8904951" cy="218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NYC, Houston and LA artists top: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Spotify playlists (user behavior)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TIDAL playlist (editorial)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Billboard charts (commercial success).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25A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79217" y="2006396"/>
            <a:ext cx="12129567" cy="7251904"/>
          </a:xfrm>
          <a:custGeom>
            <a:avLst/>
            <a:gdLst/>
            <a:ahLst/>
            <a:cxnLst/>
            <a:rect l="l" t="t" r="r" b="b"/>
            <a:pathLst>
              <a:path w="12129567" h="7251904">
                <a:moveTo>
                  <a:pt x="0" y="0"/>
                </a:moveTo>
                <a:lnTo>
                  <a:pt x="12129566" y="0"/>
                </a:lnTo>
                <a:lnTo>
                  <a:pt x="12129566" y="7251904"/>
                </a:lnTo>
                <a:lnTo>
                  <a:pt x="0" y="72519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28" r="-6024"/>
            </a:stretch>
          </a:blipFill>
        </p:spPr>
        <p:txBody>
          <a:bodyPr/>
          <a:lstStyle/>
          <a:p>
            <a:endParaRPr lang="fr-ES"/>
          </a:p>
        </p:txBody>
      </p:sp>
      <p:sp>
        <p:nvSpPr>
          <p:cNvPr id="3" name="TextBox 3"/>
          <p:cNvSpPr txBox="1"/>
          <p:nvPr/>
        </p:nvSpPr>
        <p:spPr>
          <a:xfrm>
            <a:off x="6961133" y="615315"/>
            <a:ext cx="4796472" cy="731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F9FAFC"/>
                </a:solidFill>
                <a:latin typeface="Archivo Black"/>
                <a:ea typeface="Archivo Black"/>
                <a:cs typeface="Archivo Black"/>
                <a:sym typeface="Archivo Black"/>
              </a:rPr>
              <a:t>Artist Highlights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25A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91179" y="1308880"/>
            <a:ext cx="1982041" cy="1982041"/>
          </a:xfrm>
          <a:custGeom>
            <a:avLst/>
            <a:gdLst/>
            <a:ahLst/>
            <a:cxnLst/>
            <a:rect l="l" t="t" r="r" b="b"/>
            <a:pathLst>
              <a:path w="1982041" h="1982041">
                <a:moveTo>
                  <a:pt x="0" y="0"/>
                </a:moveTo>
                <a:lnTo>
                  <a:pt x="1982041" y="0"/>
                </a:lnTo>
                <a:lnTo>
                  <a:pt x="1982041" y="1982041"/>
                </a:lnTo>
                <a:lnTo>
                  <a:pt x="0" y="19820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ES"/>
          </a:p>
        </p:txBody>
      </p:sp>
      <p:sp>
        <p:nvSpPr>
          <p:cNvPr id="3" name="Freeform 3"/>
          <p:cNvSpPr/>
          <p:nvPr/>
        </p:nvSpPr>
        <p:spPr>
          <a:xfrm>
            <a:off x="3108545" y="3482606"/>
            <a:ext cx="1979723" cy="1979723"/>
          </a:xfrm>
          <a:custGeom>
            <a:avLst/>
            <a:gdLst/>
            <a:ahLst/>
            <a:cxnLst/>
            <a:rect l="l" t="t" r="r" b="b"/>
            <a:pathLst>
              <a:path w="1979723" h="1979723">
                <a:moveTo>
                  <a:pt x="0" y="0"/>
                </a:moveTo>
                <a:lnTo>
                  <a:pt x="1979723" y="0"/>
                </a:lnTo>
                <a:lnTo>
                  <a:pt x="1979723" y="1979724"/>
                </a:lnTo>
                <a:lnTo>
                  <a:pt x="0" y="19797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ES"/>
          </a:p>
        </p:txBody>
      </p:sp>
      <p:sp>
        <p:nvSpPr>
          <p:cNvPr id="4" name="Freeform 4"/>
          <p:cNvSpPr/>
          <p:nvPr/>
        </p:nvSpPr>
        <p:spPr>
          <a:xfrm>
            <a:off x="3093496" y="5652830"/>
            <a:ext cx="1994771" cy="1994771"/>
          </a:xfrm>
          <a:custGeom>
            <a:avLst/>
            <a:gdLst/>
            <a:ahLst/>
            <a:cxnLst/>
            <a:rect l="l" t="t" r="r" b="b"/>
            <a:pathLst>
              <a:path w="1994771" h="1994771">
                <a:moveTo>
                  <a:pt x="0" y="0"/>
                </a:moveTo>
                <a:lnTo>
                  <a:pt x="1994772" y="0"/>
                </a:lnTo>
                <a:lnTo>
                  <a:pt x="1994772" y="1994771"/>
                </a:lnTo>
                <a:lnTo>
                  <a:pt x="0" y="19947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ES"/>
          </a:p>
        </p:txBody>
      </p:sp>
      <p:sp>
        <p:nvSpPr>
          <p:cNvPr id="5" name="Freeform 5"/>
          <p:cNvSpPr/>
          <p:nvPr/>
        </p:nvSpPr>
        <p:spPr>
          <a:xfrm>
            <a:off x="3108545" y="7838101"/>
            <a:ext cx="1994771" cy="1994771"/>
          </a:xfrm>
          <a:custGeom>
            <a:avLst/>
            <a:gdLst/>
            <a:ahLst/>
            <a:cxnLst/>
            <a:rect l="l" t="t" r="r" b="b"/>
            <a:pathLst>
              <a:path w="1994771" h="1994771">
                <a:moveTo>
                  <a:pt x="0" y="0"/>
                </a:moveTo>
                <a:lnTo>
                  <a:pt x="1994771" y="0"/>
                </a:lnTo>
                <a:lnTo>
                  <a:pt x="1994771" y="1994772"/>
                </a:lnTo>
                <a:lnTo>
                  <a:pt x="0" y="19947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ES"/>
          </a:p>
        </p:txBody>
      </p:sp>
      <p:sp>
        <p:nvSpPr>
          <p:cNvPr id="6" name="TextBox 6"/>
          <p:cNvSpPr txBox="1"/>
          <p:nvPr/>
        </p:nvSpPr>
        <p:spPr>
          <a:xfrm>
            <a:off x="6961133" y="297180"/>
            <a:ext cx="4796472" cy="731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F9FAFC"/>
                </a:solidFill>
                <a:latin typeface="Archivo Black"/>
                <a:ea typeface="Archivo Black"/>
                <a:cs typeface="Archivo Black"/>
                <a:sym typeface="Archivo Black"/>
              </a:rPr>
              <a:t>Artist Highlights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87334" y="1947475"/>
            <a:ext cx="10630406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F9FAFC"/>
                </a:solidFill>
                <a:latin typeface="Arial Bold"/>
                <a:ea typeface="Arial Bold"/>
                <a:cs typeface="Arial Bold"/>
                <a:sym typeface="Arial Bold"/>
              </a:rPr>
              <a:t>Nicki Minaj</a:t>
            </a:r>
            <a:r>
              <a:rPr lang="en-US" sz="300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: Highest total mentions, cross-generational icon.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87334" y="4120043"/>
            <a:ext cx="10145825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F9FAFC"/>
                </a:solidFill>
                <a:latin typeface="Arial Bold"/>
                <a:ea typeface="Arial Bold"/>
                <a:cs typeface="Arial Bold"/>
                <a:sym typeface="Arial Bold"/>
              </a:rPr>
              <a:t>Cardi B</a:t>
            </a:r>
            <a:r>
              <a:rPr lang="en-US" sz="300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: Viral success, Grammy winner.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87334" y="6297790"/>
            <a:ext cx="10145825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F9FAFC"/>
                </a:solidFill>
                <a:latin typeface="Arial Bold"/>
                <a:ea typeface="Arial Bold"/>
                <a:cs typeface="Arial Bold"/>
                <a:sym typeface="Arial Bold"/>
              </a:rPr>
              <a:t>Megan Thee Stallion</a:t>
            </a:r>
            <a:r>
              <a:rPr lang="en-US" sz="3000" dirty="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: Southern flair, Gen Z empowerment.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87334" y="8479015"/>
            <a:ext cx="10145825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F9FAFC"/>
                </a:solidFill>
                <a:latin typeface="Arial Bold"/>
                <a:ea typeface="Arial Bold"/>
                <a:cs typeface="Arial Bold"/>
                <a:sym typeface="Arial Bold"/>
              </a:rPr>
              <a:t>Doja Cat</a:t>
            </a:r>
            <a:r>
              <a:rPr lang="en-US" sz="300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: Internet-savvy, pop/rapcrossover.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25A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614789" y="1723086"/>
            <a:ext cx="9058422" cy="5877253"/>
          </a:xfrm>
          <a:custGeom>
            <a:avLst/>
            <a:gdLst/>
            <a:ahLst/>
            <a:cxnLst/>
            <a:rect l="l" t="t" r="r" b="b"/>
            <a:pathLst>
              <a:path w="9058422" h="5877253">
                <a:moveTo>
                  <a:pt x="0" y="0"/>
                </a:moveTo>
                <a:lnTo>
                  <a:pt x="9058422" y="0"/>
                </a:lnTo>
                <a:lnTo>
                  <a:pt x="9058422" y="5877253"/>
                </a:lnTo>
                <a:lnTo>
                  <a:pt x="0" y="58772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66" t="-3528" r="-6214" b="-3024"/>
            </a:stretch>
          </a:blipFill>
        </p:spPr>
        <p:txBody>
          <a:bodyPr/>
          <a:lstStyle/>
          <a:p>
            <a:endParaRPr lang="fr-ES"/>
          </a:p>
        </p:txBody>
      </p:sp>
      <p:sp>
        <p:nvSpPr>
          <p:cNvPr id="3" name="TextBox 3"/>
          <p:cNvSpPr txBox="1"/>
          <p:nvPr/>
        </p:nvSpPr>
        <p:spPr>
          <a:xfrm>
            <a:off x="7010400" y="615315"/>
            <a:ext cx="4267200" cy="731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F9FAFC"/>
                </a:solidFill>
                <a:latin typeface="Archivo Black"/>
                <a:ea typeface="Archivo Black"/>
                <a:cs typeface="Archivo Black"/>
                <a:sym typeface="Archivo Black"/>
              </a:rPr>
              <a:t>Other Findings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80954" y="7852766"/>
            <a:ext cx="12461046" cy="164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•  Most successful tracks are </a:t>
            </a:r>
            <a:r>
              <a:rPr lang="en-US" sz="3000" b="1">
                <a:solidFill>
                  <a:srgbClr val="F9FAFC"/>
                </a:solidFill>
                <a:latin typeface="Arial Bold"/>
                <a:ea typeface="Arial Bold"/>
                <a:cs typeface="Arial Bold"/>
                <a:sym typeface="Arial Bold"/>
              </a:rPr>
              <a:t>3 to 4.5 mins</a:t>
            </a:r>
            <a:r>
              <a:rPr lang="en-US" sz="300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 (streaming-friendly).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lang="en-US" sz="3000" b="1">
                <a:solidFill>
                  <a:srgbClr val="F9FAFC"/>
                </a:solidFill>
                <a:latin typeface="Arial Bold"/>
                <a:ea typeface="Arial Bold"/>
                <a:cs typeface="Arial Bold"/>
                <a:sym typeface="Arial Bold"/>
              </a:rPr>
              <a:t>Billboard</a:t>
            </a:r>
            <a:r>
              <a:rPr lang="en-US" sz="300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3000" b="1">
                <a:solidFill>
                  <a:srgbClr val="F9FAFC"/>
                </a:solidFill>
                <a:latin typeface="Arial Bold"/>
                <a:ea typeface="Arial Bold"/>
                <a:cs typeface="Arial Bold"/>
                <a:sym typeface="Arial Bold"/>
              </a:rPr>
              <a:t>Spotify Top 10k</a:t>
            </a:r>
            <a:r>
              <a:rPr lang="en-US" sz="300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 are strong indicators of future success.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lang="en-US" sz="3000" b="1">
                <a:solidFill>
                  <a:srgbClr val="F9FAFC"/>
                </a:solidFill>
                <a:latin typeface="Arial Bold"/>
                <a:ea typeface="Arial Bold"/>
                <a:cs typeface="Arial Bold"/>
                <a:sym typeface="Arial Bold"/>
              </a:rPr>
              <a:t>TIDAL</a:t>
            </a:r>
            <a:r>
              <a:rPr lang="en-US" sz="300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3000" b="1">
                <a:solidFill>
                  <a:srgbClr val="F9FAFC"/>
                </a:solidFill>
                <a:latin typeface="Arial Bold"/>
                <a:ea typeface="Arial Bold"/>
                <a:cs typeface="Arial Bold"/>
                <a:sym typeface="Arial Bold"/>
              </a:rPr>
              <a:t>Complex</a:t>
            </a:r>
            <a:r>
              <a:rPr lang="en-US" sz="300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 better capture early/emerging talent.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25A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842736" y="1811772"/>
            <a:ext cx="6602528" cy="6015147"/>
          </a:xfrm>
          <a:custGeom>
            <a:avLst/>
            <a:gdLst/>
            <a:ahLst/>
            <a:cxnLst/>
            <a:rect l="l" t="t" r="r" b="b"/>
            <a:pathLst>
              <a:path w="6602528" h="6015147">
                <a:moveTo>
                  <a:pt x="0" y="0"/>
                </a:moveTo>
                <a:lnTo>
                  <a:pt x="6602528" y="0"/>
                </a:lnTo>
                <a:lnTo>
                  <a:pt x="6602528" y="6015147"/>
                </a:lnTo>
                <a:lnTo>
                  <a:pt x="0" y="60151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12" t="-2803" r="-5958" b="-3527"/>
            </a:stretch>
          </a:blipFill>
        </p:spPr>
        <p:txBody>
          <a:bodyPr/>
          <a:lstStyle/>
          <a:p>
            <a:endParaRPr lang="fr-ES"/>
          </a:p>
        </p:txBody>
      </p:sp>
      <p:sp>
        <p:nvSpPr>
          <p:cNvPr id="3" name="TextBox 3"/>
          <p:cNvSpPr txBox="1"/>
          <p:nvPr/>
        </p:nvSpPr>
        <p:spPr>
          <a:xfrm>
            <a:off x="6311900" y="615315"/>
            <a:ext cx="5664200" cy="731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F9FAFC"/>
                </a:solidFill>
                <a:latin typeface="Archivo Black"/>
                <a:ea typeface="Archivo Black"/>
                <a:cs typeface="Archivo Black"/>
                <a:sym typeface="Archivo Black"/>
              </a:rPr>
              <a:t>Model Performance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61395" y="8168032"/>
            <a:ext cx="7965210" cy="164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lang="en-US" sz="3000" b="1">
                <a:solidFill>
                  <a:srgbClr val="F9FAFC"/>
                </a:solidFill>
                <a:latin typeface="Arial Bold"/>
                <a:ea typeface="Arial Bold"/>
                <a:cs typeface="Arial Bold"/>
                <a:sym typeface="Arial Bold"/>
              </a:rPr>
              <a:t>100% test accuracy</a:t>
            </a:r>
            <a:r>
              <a:rPr lang="en-US" sz="300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 (small test size n=11).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lang="en-US" sz="3000" b="1">
                <a:solidFill>
                  <a:srgbClr val="F9FAFC"/>
                </a:solidFill>
                <a:latin typeface="Arial Bold"/>
                <a:ea typeface="Arial Bold"/>
                <a:cs typeface="Arial Bold"/>
                <a:sym typeface="Arial Bold"/>
              </a:rPr>
              <a:t>88% mean accurac</a:t>
            </a:r>
            <a:r>
              <a:rPr lang="en-US" sz="300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y via </a:t>
            </a:r>
            <a:r>
              <a:rPr lang="en-US" sz="3000" b="1">
                <a:solidFill>
                  <a:srgbClr val="F9FAFC"/>
                </a:solidFill>
                <a:latin typeface="Arial Bold"/>
                <a:ea typeface="Arial Bold"/>
                <a:cs typeface="Arial Bold"/>
                <a:sym typeface="Arial Bold"/>
              </a:rPr>
              <a:t>cross-validation</a:t>
            </a:r>
            <a:r>
              <a:rPr lang="en-US" sz="300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•  Requires larger datasets for robustness.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25A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08025" y="1257300"/>
            <a:ext cx="6282214" cy="7315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dirty="0">
                <a:solidFill>
                  <a:srgbClr val="F9FAFC"/>
                </a:solidFill>
                <a:latin typeface="Archivo Black"/>
                <a:ea typeface="Archivo Black"/>
                <a:cs typeface="Archivo Black"/>
                <a:sym typeface="Archivo Black"/>
              </a:rPr>
              <a:t>Recommendations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051165" y="3433009"/>
            <a:ext cx="12795934" cy="271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✅ Focus </a:t>
            </a:r>
            <a:r>
              <a:rPr lang="en-US" sz="3000" b="1">
                <a:solidFill>
                  <a:srgbClr val="F9FAFC"/>
                </a:solidFill>
                <a:latin typeface="Arial Bold"/>
                <a:ea typeface="Arial Bold"/>
                <a:cs typeface="Arial Bold"/>
                <a:sym typeface="Arial Bold"/>
              </a:rPr>
              <a:t>scouting</a:t>
            </a:r>
            <a:r>
              <a:rPr lang="en-US" sz="300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lang="en-US" sz="3000" b="1">
                <a:solidFill>
                  <a:srgbClr val="F9FAFC"/>
                </a:solidFill>
                <a:latin typeface="Arial Bold"/>
                <a:ea typeface="Arial Bold"/>
                <a:cs typeface="Arial Bold"/>
                <a:sym typeface="Arial Bold"/>
              </a:rPr>
              <a:t>New York City</a:t>
            </a:r>
            <a:r>
              <a:rPr lang="en-US" sz="300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000" b="1">
                <a:solidFill>
                  <a:srgbClr val="F9FAFC"/>
                </a:solidFill>
                <a:latin typeface="Arial Bold"/>
                <a:ea typeface="Arial Bold"/>
                <a:cs typeface="Arial Bold"/>
                <a:sym typeface="Arial Bold"/>
              </a:rPr>
              <a:t>Houston</a:t>
            </a:r>
            <a:r>
              <a:rPr lang="en-US" sz="300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000" b="1">
                <a:solidFill>
                  <a:srgbClr val="F9FAFC"/>
                </a:solidFill>
                <a:latin typeface="Arial Bold"/>
                <a:ea typeface="Arial Bold"/>
                <a:cs typeface="Arial Bold"/>
                <a:sym typeface="Arial Bold"/>
              </a:rPr>
              <a:t>Los Angeles</a:t>
            </a:r>
            <a:r>
              <a:rPr lang="en-US" sz="300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 and</a:t>
            </a:r>
            <a:r>
              <a:rPr lang="en-US" sz="3000" b="1">
                <a:solidFill>
                  <a:srgbClr val="F9FAFC"/>
                </a:solidFill>
                <a:latin typeface="Arial Bold"/>
                <a:ea typeface="Arial Bold"/>
                <a:cs typeface="Arial Bold"/>
                <a:sym typeface="Arial Bold"/>
              </a:rPr>
              <a:t> Atlanta</a:t>
            </a:r>
            <a:r>
              <a:rPr lang="en-US" sz="300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F9FAF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✅ Track </a:t>
            </a:r>
            <a:r>
              <a:rPr lang="en-US" sz="3000" b="1">
                <a:solidFill>
                  <a:srgbClr val="F9FAFC"/>
                </a:solidFill>
                <a:latin typeface="Arial Bold"/>
                <a:ea typeface="Arial Bold"/>
                <a:cs typeface="Arial Bold"/>
                <a:sym typeface="Arial Bold"/>
              </a:rPr>
              <a:t>early momentum</a:t>
            </a:r>
            <a:r>
              <a:rPr lang="en-US" sz="300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 via Spotify Top 10k and Billboard.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F9FAF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✅ Use </a:t>
            </a:r>
            <a:r>
              <a:rPr lang="en-US" sz="3000" b="1">
                <a:solidFill>
                  <a:srgbClr val="F9FAFC"/>
                </a:solidFill>
                <a:latin typeface="Arial Bold"/>
                <a:ea typeface="Arial Bold"/>
                <a:cs typeface="Arial Bold"/>
                <a:sym typeface="Arial Bold"/>
              </a:rPr>
              <a:t>predictive models</a:t>
            </a:r>
            <a:r>
              <a:rPr lang="en-US" sz="300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 in A&amp;R to identify </a:t>
            </a:r>
            <a:r>
              <a:rPr lang="en-US" sz="3000" b="1">
                <a:solidFill>
                  <a:srgbClr val="F9FAFC"/>
                </a:solidFill>
                <a:latin typeface="Arial Bold"/>
                <a:ea typeface="Arial Bold"/>
                <a:cs typeface="Arial Bold"/>
                <a:sym typeface="Arial Bold"/>
              </a:rPr>
              <a:t>high-potential </a:t>
            </a:r>
            <a:r>
              <a:rPr lang="en-US" sz="300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artists.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25A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515548" y="1937094"/>
            <a:ext cx="9260960" cy="1389586"/>
            <a:chOff x="0" y="0"/>
            <a:chExt cx="13053751" cy="19586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53752" cy="1958686"/>
            </a:xfrm>
            <a:custGeom>
              <a:avLst/>
              <a:gdLst/>
              <a:ahLst/>
              <a:cxnLst/>
              <a:rect l="l" t="t" r="r" b="b"/>
              <a:pathLst>
                <a:path w="13053752" h="1958686">
                  <a:moveTo>
                    <a:pt x="13376" y="0"/>
                  </a:moveTo>
                  <a:lnTo>
                    <a:pt x="13040376" y="0"/>
                  </a:lnTo>
                  <a:cubicBezTo>
                    <a:pt x="13043925" y="0"/>
                    <a:pt x="13047326" y="1409"/>
                    <a:pt x="13049834" y="3918"/>
                  </a:cubicBezTo>
                  <a:cubicBezTo>
                    <a:pt x="13052343" y="6426"/>
                    <a:pt x="13053752" y="9828"/>
                    <a:pt x="13053752" y="13376"/>
                  </a:cubicBezTo>
                  <a:lnTo>
                    <a:pt x="13053752" y="1945311"/>
                  </a:lnTo>
                  <a:cubicBezTo>
                    <a:pt x="13053752" y="1952698"/>
                    <a:pt x="13047763" y="1958686"/>
                    <a:pt x="13040376" y="1958686"/>
                  </a:cubicBezTo>
                  <a:lnTo>
                    <a:pt x="13376" y="1958686"/>
                  </a:lnTo>
                  <a:cubicBezTo>
                    <a:pt x="5988" y="1958686"/>
                    <a:pt x="0" y="1952698"/>
                    <a:pt x="0" y="1945311"/>
                  </a:cubicBezTo>
                  <a:lnTo>
                    <a:pt x="0" y="13376"/>
                  </a:lnTo>
                  <a:cubicBezTo>
                    <a:pt x="0" y="5988"/>
                    <a:pt x="5988" y="0"/>
                    <a:pt x="13376" y="0"/>
                  </a:cubicBezTo>
                  <a:close/>
                </a:path>
              </a:pathLst>
            </a:custGeom>
            <a:solidFill>
              <a:srgbClr val="54545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13053751" cy="2025361"/>
            </a:xfrm>
            <a:prstGeom prst="rect">
              <a:avLst/>
            </a:prstGeom>
          </p:spPr>
          <p:txBody>
            <a:bodyPr lIns="29037" tIns="29037" rIns="29037" bIns="29037" rtlCol="0" anchor="ctr"/>
            <a:lstStyle/>
            <a:p>
              <a:pPr algn="l">
                <a:lnSpc>
                  <a:spcPts val="456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515548" y="3552220"/>
            <a:ext cx="9252848" cy="1442694"/>
            <a:chOff x="0" y="0"/>
            <a:chExt cx="13042318" cy="20335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042319" cy="2033544"/>
            </a:xfrm>
            <a:custGeom>
              <a:avLst/>
              <a:gdLst/>
              <a:ahLst/>
              <a:cxnLst/>
              <a:rect l="l" t="t" r="r" b="b"/>
              <a:pathLst>
                <a:path w="13042319" h="2033544">
                  <a:moveTo>
                    <a:pt x="13387" y="0"/>
                  </a:moveTo>
                  <a:lnTo>
                    <a:pt x="13028932" y="0"/>
                  </a:lnTo>
                  <a:cubicBezTo>
                    <a:pt x="13036325" y="0"/>
                    <a:pt x="13042319" y="5994"/>
                    <a:pt x="13042319" y="13387"/>
                  </a:cubicBezTo>
                  <a:lnTo>
                    <a:pt x="13042319" y="2020157"/>
                  </a:lnTo>
                  <a:cubicBezTo>
                    <a:pt x="13042319" y="2027550"/>
                    <a:pt x="13036325" y="2033544"/>
                    <a:pt x="13028932" y="2033544"/>
                  </a:cubicBezTo>
                  <a:lnTo>
                    <a:pt x="13387" y="2033544"/>
                  </a:lnTo>
                  <a:cubicBezTo>
                    <a:pt x="5994" y="2033544"/>
                    <a:pt x="0" y="2027550"/>
                    <a:pt x="0" y="2020157"/>
                  </a:cubicBezTo>
                  <a:lnTo>
                    <a:pt x="0" y="13387"/>
                  </a:lnTo>
                  <a:cubicBezTo>
                    <a:pt x="0" y="5994"/>
                    <a:pt x="5994" y="0"/>
                    <a:pt x="13387" y="0"/>
                  </a:cubicBezTo>
                  <a:close/>
                </a:path>
              </a:pathLst>
            </a:custGeom>
            <a:solidFill>
              <a:srgbClr val="54545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E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13042318" cy="2100219"/>
            </a:xfrm>
            <a:prstGeom prst="rect">
              <a:avLst/>
            </a:prstGeom>
          </p:spPr>
          <p:txBody>
            <a:bodyPr lIns="29037" tIns="29037" rIns="29037" bIns="29037" rtlCol="0" anchor="ctr"/>
            <a:lstStyle/>
            <a:p>
              <a:pPr algn="l">
                <a:lnSpc>
                  <a:spcPts val="456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15548" y="5222648"/>
            <a:ext cx="9256904" cy="1442694"/>
            <a:chOff x="0" y="0"/>
            <a:chExt cx="13048035" cy="203354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048035" cy="2033544"/>
            </a:xfrm>
            <a:custGeom>
              <a:avLst/>
              <a:gdLst/>
              <a:ahLst/>
              <a:cxnLst/>
              <a:rect l="l" t="t" r="r" b="b"/>
              <a:pathLst>
                <a:path w="13048035" h="2033544">
                  <a:moveTo>
                    <a:pt x="13381" y="0"/>
                  </a:moveTo>
                  <a:lnTo>
                    <a:pt x="13034654" y="0"/>
                  </a:lnTo>
                  <a:cubicBezTo>
                    <a:pt x="13038203" y="0"/>
                    <a:pt x="13041606" y="1410"/>
                    <a:pt x="13044115" y="3919"/>
                  </a:cubicBezTo>
                  <a:cubicBezTo>
                    <a:pt x="13046625" y="6429"/>
                    <a:pt x="13048035" y="9832"/>
                    <a:pt x="13048035" y="13381"/>
                  </a:cubicBezTo>
                  <a:lnTo>
                    <a:pt x="13048035" y="2020163"/>
                  </a:lnTo>
                  <a:cubicBezTo>
                    <a:pt x="13048035" y="2023712"/>
                    <a:pt x="13046625" y="2027115"/>
                    <a:pt x="13044115" y="2029625"/>
                  </a:cubicBezTo>
                  <a:cubicBezTo>
                    <a:pt x="13041606" y="2032134"/>
                    <a:pt x="13038203" y="2033544"/>
                    <a:pt x="13034654" y="2033544"/>
                  </a:cubicBezTo>
                  <a:lnTo>
                    <a:pt x="13381" y="2033544"/>
                  </a:lnTo>
                  <a:cubicBezTo>
                    <a:pt x="9832" y="2033544"/>
                    <a:pt x="6429" y="2032134"/>
                    <a:pt x="3919" y="2029625"/>
                  </a:cubicBezTo>
                  <a:cubicBezTo>
                    <a:pt x="1410" y="2027115"/>
                    <a:pt x="0" y="2023712"/>
                    <a:pt x="0" y="2020163"/>
                  </a:cubicBezTo>
                  <a:lnTo>
                    <a:pt x="0" y="13381"/>
                  </a:lnTo>
                  <a:cubicBezTo>
                    <a:pt x="0" y="9832"/>
                    <a:pt x="1410" y="6429"/>
                    <a:pt x="3919" y="3919"/>
                  </a:cubicBezTo>
                  <a:cubicBezTo>
                    <a:pt x="6429" y="1410"/>
                    <a:pt x="9832" y="0"/>
                    <a:pt x="13381" y="0"/>
                  </a:cubicBezTo>
                  <a:close/>
                </a:path>
              </a:pathLst>
            </a:custGeom>
            <a:solidFill>
              <a:srgbClr val="54545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E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3048035" cy="2100219"/>
            </a:xfrm>
            <a:prstGeom prst="rect">
              <a:avLst/>
            </a:prstGeom>
          </p:spPr>
          <p:txBody>
            <a:bodyPr lIns="29037" tIns="29037" rIns="29037" bIns="29037" rtlCol="0" anchor="ctr"/>
            <a:lstStyle/>
            <a:p>
              <a:pPr algn="l">
                <a:lnSpc>
                  <a:spcPts val="4561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511492" y="6892419"/>
            <a:ext cx="9260960" cy="2127561"/>
            <a:chOff x="0" y="0"/>
            <a:chExt cx="13053751" cy="29988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053752" cy="2998896"/>
            </a:xfrm>
            <a:custGeom>
              <a:avLst/>
              <a:gdLst/>
              <a:ahLst/>
              <a:cxnLst/>
              <a:rect l="l" t="t" r="r" b="b"/>
              <a:pathLst>
                <a:path w="13053752" h="2998896">
                  <a:moveTo>
                    <a:pt x="13376" y="0"/>
                  </a:moveTo>
                  <a:lnTo>
                    <a:pt x="13040376" y="0"/>
                  </a:lnTo>
                  <a:cubicBezTo>
                    <a:pt x="13043925" y="0"/>
                    <a:pt x="13047326" y="1409"/>
                    <a:pt x="13049834" y="3918"/>
                  </a:cubicBezTo>
                  <a:cubicBezTo>
                    <a:pt x="13052343" y="6426"/>
                    <a:pt x="13053752" y="9828"/>
                    <a:pt x="13053752" y="13376"/>
                  </a:cubicBezTo>
                  <a:lnTo>
                    <a:pt x="13053752" y="2985520"/>
                  </a:lnTo>
                  <a:cubicBezTo>
                    <a:pt x="13053752" y="2992907"/>
                    <a:pt x="13047763" y="2998896"/>
                    <a:pt x="13040376" y="2998896"/>
                  </a:cubicBezTo>
                  <a:lnTo>
                    <a:pt x="13376" y="2998896"/>
                  </a:lnTo>
                  <a:cubicBezTo>
                    <a:pt x="9828" y="2998896"/>
                    <a:pt x="6426" y="2997487"/>
                    <a:pt x="3918" y="2994978"/>
                  </a:cubicBezTo>
                  <a:cubicBezTo>
                    <a:pt x="1409" y="2992470"/>
                    <a:pt x="0" y="2989068"/>
                    <a:pt x="0" y="2985520"/>
                  </a:cubicBezTo>
                  <a:lnTo>
                    <a:pt x="0" y="13376"/>
                  </a:lnTo>
                  <a:cubicBezTo>
                    <a:pt x="0" y="5988"/>
                    <a:pt x="5988" y="0"/>
                    <a:pt x="13376" y="0"/>
                  </a:cubicBezTo>
                  <a:close/>
                </a:path>
              </a:pathLst>
            </a:custGeom>
            <a:solidFill>
              <a:srgbClr val="54545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E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13053751" cy="3065571"/>
            </a:xfrm>
            <a:prstGeom prst="rect">
              <a:avLst/>
            </a:prstGeom>
          </p:spPr>
          <p:txBody>
            <a:bodyPr lIns="29037" tIns="29037" rIns="29037" bIns="29037" rtlCol="0" anchor="ctr"/>
            <a:lstStyle/>
            <a:p>
              <a:pPr algn="l">
                <a:lnSpc>
                  <a:spcPts val="4561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49810" y="2141362"/>
            <a:ext cx="926133" cy="914826"/>
            <a:chOff x="0" y="0"/>
            <a:chExt cx="712717" cy="70401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12717" cy="704016"/>
            </a:xfrm>
            <a:custGeom>
              <a:avLst/>
              <a:gdLst/>
              <a:ahLst/>
              <a:cxnLst/>
              <a:rect l="l" t="t" r="r" b="b"/>
              <a:pathLst>
                <a:path w="712717" h="704016">
                  <a:moveTo>
                    <a:pt x="83594" y="0"/>
                  </a:moveTo>
                  <a:lnTo>
                    <a:pt x="629123" y="0"/>
                  </a:lnTo>
                  <a:cubicBezTo>
                    <a:pt x="675291" y="0"/>
                    <a:pt x="712717" y="37426"/>
                    <a:pt x="712717" y="83594"/>
                  </a:cubicBezTo>
                  <a:lnTo>
                    <a:pt x="712717" y="620422"/>
                  </a:lnTo>
                  <a:cubicBezTo>
                    <a:pt x="712717" y="642592"/>
                    <a:pt x="703910" y="663855"/>
                    <a:pt x="688233" y="679532"/>
                  </a:cubicBezTo>
                  <a:cubicBezTo>
                    <a:pt x="672556" y="695209"/>
                    <a:pt x="651293" y="704016"/>
                    <a:pt x="629123" y="704016"/>
                  </a:cubicBezTo>
                  <a:lnTo>
                    <a:pt x="83594" y="704016"/>
                  </a:lnTo>
                  <a:cubicBezTo>
                    <a:pt x="37426" y="704016"/>
                    <a:pt x="0" y="666589"/>
                    <a:pt x="0" y="620422"/>
                  </a:cubicBezTo>
                  <a:lnTo>
                    <a:pt x="0" y="83594"/>
                  </a:lnTo>
                  <a:cubicBezTo>
                    <a:pt x="0" y="37426"/>
                    <a:pt x="37426" y="0"/>
                    <a:pt x="8359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E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712717" cy="761166"/>
            </a:xfrm>
            <a:prstGeom prst="rect">
              <a:avLst/>
            </a:prstGeom>
          </p:spPr>
          <p:txBody>
            <a:bodyPr lIns="29037" tIns="29037" rIns="29037" bIns="29037" rtlCol="0" anchor="ctr"/>
            <a:lstStyle/>
            <a:p>
              <a:pPr marL="0" lvl="0" indent="0" algn="ctr">
                <a:lnSpc>
                  <a:spcPts val="448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749810" y="7204650"/>
            <a:ext cx="926133" cy="914826"/>
            <a:chOff x="0" y="0"/>
            <a:chExt cx="712717" cy="70401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12717" cy="704016"/>
            </a:xfrm>
            <a:custGeom>
              <a:avLst/>
              <a:gdLst/>
              <a:ahLst/>
              <a:cxnLst/>
              <a:rect l="l" t="t" r="r" b="b"/>
              <a:pathLst>
                <a:path w="712717" h="704016">
                  <a:moveTo>
                    <a:pt x="83594" y="0"/>
                  </a:moveTo>
                  <a:lnTo>
                    <a:pt x="629123" y="0"/>
                  </a:lnTo>
                  <a:cubicBezTo>
                    <a:pt x="675291" y="0"/>
                    <a:pt x="712717" y="37426"/>
                    <a:pt x="712717" y="83594"/>
                  </a:cubicBezTo>
                  <a:lnTo>
                    <a:pt x="712717" y="620422"/>
                  </a:lnTo>
                  <a:cubicBezTo>
                    <a:pt x="712717" y="642592"/>
                    <a:pt x="703910" y="663855"/>
                    <a:pt x="688233" y="679532"/>
                  </a:cubicBezTo>
                  <a:cubicBezTo>
                    <a:pt x="672556" y="695209"/>
                    <a:pt x="651293" y="704016"/>
                    <a:pt x="629123" y="704016"/>
                  </a:cubicBezTo>
                  <a:lnTo>
                    <a:pt x="83594" y="704016"/>
                  </a:lnTo>
                  <a:cubicBezTo>
                    <a:pt x="37426" y="704016"/>
                    <a:pt x="0" y="666589"/>
                    <a:pt x="0" y="620422"/>
                  </a:cubicBezTo>
                  <a:lnTo>
                    <a:pt x="0" y="83594"/>
                  </a:lnTo>
                  <a:cubicBezTo>
                    <a:pt x="0" y="37426"/>
                    <a:pt x="37426" y="0"/>
                    <a:pt x="8359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E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712717" cy="761166"/>
            </a:xfrm>
            <a:prstGeom prst="rect">
              <a:avLst/>
            </a:prstGeom>
          </p:spPr>
          <p:txBody>
            <a:bodyPr lIns="29037" tIns="29037" rIns="29037" bIns="29037" rtlCol="0" anchor="ctr"/>
            <a:lstStyle/>
            <a:p>
              <a:pPr marL="0" lvl="0" indent="0" algn="ctr">
                <a:lnSpc>
                  <a:spcPts val="448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749810" y="3818236"/>
            <a:ext cx="926133" cy="914826"/>
            <a:chOff x="0" y="0"/>
            <a:chExt cx="712717" cy="70401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12717" cy="704016"/>
            </a:xfrm>
            <a:custGeom>
              <a:avLst/>
              <a:gdLst/>
              <a:ahLst/>
              <a:cxnLst/>
              <a:rect l="l" t="t" r="r" b="b"/>
              <a:pathLst>
                <a:path w="712717" h="704016">
                  <a:moveTo>
                    <a:pt x="83594" y="0"/>
                  </a:moveTo>
                  <a:lnTo>
                    <a:pt x="629123" y="0"/>
                  </a:lnTo>
                  <a:cubicBezTo>
                    <a:pt x="675291" y="0"/>
                    <a:pt x="712717" y="37426"/>
                    <a:pt x="712717" y="83594"/>
                  </a:cubicBezTo>
                  <a:lnTo>
                    <a:pt x="712717" y="620422"/>
                  </a:lnTo>
                  <a:cubicBezTo>
                    <a:pt x="712717" y="642592"/>
                    <a:pt x="703910" y="663855"/>
                    <a:pt x="688233" y="679532"/>
                  </a:cubicBezTo>
                  <a:cubicBezTo>
                    <a:pt x="672556" y="695209"/>
                    <a:pt x="651293" y="704016"/>
                    <a:pt x="629123" y="704016"/>
                  </a:cubicBezTo>
                  <a:lnTo>
                    <a:pt x="83594" y="704016"/>
                  </a:lnTo>
                  <a:cubicBezTo>
                    <a:pt x="37426" y="704016"/>
                    <a:pt x="0" y="666589"/>
                    <a:pt x="0" y="620422"/>
                  </a:cubicBezTo>
                  <a:lnTo>
                    <a:pt x="0" y="83594"/>
                  </a:lnTo>
                  <a:cubicBezTo>
                    <a:pt x="0" y="37426"/>
                    <a:pt x="37426" y="0"/>
                    <a:pt x="8359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E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712717" cy="761166"/>
            </a:xfrm>
            <a:prstGeom prst="rect">
              <a:avLst/>
            </a:prstGeom>
          </p:spPr>
          <p:txBody>
            <a:bodyPr lIns="29037" tIns="29037" rIns="29037" bIns="29037" rtlCol="0" anchor="ctr"/>
            <a:lstStyle/>
            <a:p>
              <a:pPr marL="0" lvl="0" indent="0" algn="ctr">
                <a:lnSpc>
                  <a:spcPts val="4481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4888364" y="2179911"/>
            <a:ext cx="649025" cy="828102"/>
          </a:xfrm>
          <a:custGeom>
            <a:avLst/>
            <a:gdLst/>
            <a:ahLst/>
            <a:cxnLst/>
            <a:rect l="l" t="t" r="r" b="b"/>
            <a:pathLst>
              <a:path w="649025" h="828102">
                <a:moveTo>
                  <a:pt x="0" y="0"/>
                </a:moveTo>
                <a:lnTo>
                  <a:pt x="649025" y="0"/>
                </a:lnTo>
                <a:lnTo>
                  <a:pt x="649025" y="828101"/>
                </a:lnTo>
                <a:lnTo>
                  <a:pt x="0" y="8281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ES"/>
          </a:p>
        </p:txBody>
      </p:sp>
      <p:sp>
        <p:nvSpPr>
          <p:cNvPr id="24" name="Freeform 24"/>
          <p:cNvSpPr/>
          <p:nvPr/>
        </p:nvSpPr>
        <p:spPr>
          <a:xfrm>
            <a:off x="4749810" y="7295370"/>
            <a:ext cx="923951" cy="733386"/>
          </a:xfrm>
          <a:custGeom>
            <a:avLst/>
            <a:gdLst/>
            <a:ahLst/>
            <a:cxnLst/>
            <a:rect l="l" t="t" r="r" b="b"/>
            <a:pathLst>
              <a:path w="923951" h="733386">
                <a:moveTo>
                  <a:pt x="0" y="0"/>
                </a:moveTo>
                <a:lnTo>
                  <a:pt x="923951" y="0"/>
                </a:lnTo>
                <a:lnTo>
                  <a:pt x="923951" y="733386"/>
                </a:lnTo>
                <a:lnTo>
                  <a:pt x="0" y="7333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ES"/>
          </a:p>
        </p:txBody>
      </p:sp>
      <p:sp>
        <p:nvSpPr>
          <p:cNvPr id="25" name="Freeform 25"/>
          <p:cNvSpPr/>
          <p:nvPr/>
        </p:nvSpPr>
        <p:spPr>
          <a:xfrm>
            <a:off x="4749810" y="3827877"/>
            <a:ext cx="905185" cy="905185"/>
          </a:xfrm>
          <a:custGeom>
            <a:avLst/>
            <a:gdLst/>
            <a:ahLst/>
            <a:cxnLst/>
            <a:rect l="l" t="t" r="r" b="b"/>
            <a:pathLst>
              <a:path w="905185" h="905185">
                <a:moveTo>
                  <a:pt x="0" y="0"/>
                </a:moveTo>
                <a:lnTo>
                  <a:pt x="905185" y="0"/>
                </a:lnTo>
                <a:lnTo>
                  <a:pt x="905185" y="905185"/>
                </a:lnTo>
                <a:lnTo>
                  <a:pt x="0" y="905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ES"/>
          </a:p>
        </p:txBody>
      </p:sp>
      <p:grpSp>
        <p:nvGrpSpPr>
          <p:cNvPr id="26" name="Group 26"/>
          <p:cNvGrpSpPr/>
          <p:nvPr/>
        </p:nvGrpSpPr>
        <p:grpSpPr>
          <a:xfrm>
            <a:off x="4749810" y="5556211"/>
            <a:ext cx="926133" cy="914826"/>
            <a:chOff x="0" y="0"/>
            <a:chExt cx="712717" cy="70401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12717" cy="704016"/>
            </a:xfrm>
            <a:custGeom>
              <a:avLst/>
              <a:gdLst/>
              <a:ahLst/>
              <a:cxnLst/>
              <a:rect l="l" t="t" r="r" b="b"/>
              <a:pathLst>
                <a:path w="712717" h="704016">
                  <a:moveTo>
                    <a:pt x="83594" y="0"/>
                  </a:moveTo>
                  <a:lnTo>
                    <a:pt x="629123" y="0"/>
                  </a:lnTo>
                  <a:cubicBezTo>
                    <a:pt x="675291" y="0"/>
                    <a:pt x="712717" y="37426"/>
                    <a:pt x="712717" y="83594"/>
                  </a:cubicBezTo>
                  <a:lnTo>
                    <a:pt x="712717" y="620422"/>
                  </a:lnTo>
                  <a:cubicBezTo>
                    <a:pt x="712717" y="642592"/>
                    <a:pt x="703910" y="663855"/>
                    <a:pt x="688233" y="679532"/>
                  </a:cubicBezTo>
                  <a:cubicBezTo>
                    <a:pt x="672556" y="695209"/>
                    <a:pt x="651293" y="704016"/>
                    <a:pt x="629123" y="704016"/>
                  </a:cubicBezTo>
                  <a:lnTo>
                    <a:pt x="83594" y="704016"/>
                  </a:lnTo>
                  <a:cubicBezTo>
                    <a:pt x="37426" y="704016"/>
                    <a:pt x="0" y="666589"/>
                    <a:pt x="0" y="620422"/>
                  </a:cubicBezTo>
                  <a:lnTo>
                    <a:pt x="0" y="83594"/>
                  </a:lnTo>
                  <a:cubicBezTo>
                    <a:pt x="0" y="37426"/>
                    <a:pt x="37426" y="0"/>
                    <a:pt x="8359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E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712717" cy="761166"/>
            </a:xfrm>
            <a:prstGeom prst="rect">
              <a:avLst/>
            </a:prstGeom>
          </p:spPr>
          <p:txBody>
            <a:bodyPr lIns="29037" tIns="29037" rIns="29037" bIns="29037" rtlCol="0" anchor="ctr"/>
            <a:lstStyle/>
            <a:p>
              <a:pPr marL="0" lvl="0" indent="0" algn="ctr">
                <a:lnSpc>
                  <a:spcPts val="4481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>
            <a:off x="4511492" y="5312241"/>
            <a:ext cx="1353102" cy="1353102"/>
          </a:xfrm>
          <a:custGeom>
            <a:avLst/>
            <a:gdLst/>
            <a:ahLst/>
            <a:cxnLst/>
            <a:rect l="l" t="t" r="r" b="b"/>
            <a:pathLst>
              <a:path w="1353102" h="1353102">
                <a:moveTo>
                  <a:pt x="0" y="0"/>
                </a:moveTo>
                <a:lnTo>
                  <a:pt x="1353102" y="0"/>
                </a:lnTo>
                <a:lnTo>
                  <a:pt x="1353102" y="1353101"/>
                </a:lnTo>
                <a:lnTo>
                  <a:pt x="0" y="13531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fr-ES"/>
          </a:p>
        </p:txBody>
      </p:sp>
      <p:sp>
        <p:nvSpPr>
          <p:cNvPr id="30" name="TextBox 30"/>
          <p:cNvSpPr txBox="1"/>
          <p:nvPr/>
        </p:nvSpPr>
        <p:spPr>
          <a:xfrm>
            <a:off x="7357701" y="588528"/>
            <a:ext cx="3568541" cy="731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dirty="0">
                <a:solidFill>
                  <a:srgbClr val="F9FAFC"/>
                </a:solidFill>
                <a:latin typeface="Archivo Black"/>
                <a:ea typeface="Archivo Black"/>
                <a:cs typeface="Archivo Black"/>
                <a:sym typeface="Archivo Black"/>
              </a:rPr>
              <a:t>Future Work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908362" y="2074687"/>
            <a:ext cx="7686912" cy="1128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27"/>
              </a:lnSpc>
              <a:spcBef>
                <a:spcPct val="0"/>
              </a:spcBef>
            </a:pPr>
            <a:r>
              <a:rPr lang="en-US" sz="3234" b="1" spc="-38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Add lyrical, audio, and collaboration features.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908362" y="3677948"/>
            <a:ext cx="7383346" cy="1128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27"/>
              </a:lnSpc>
              <a:spcBef>
                <a:spcPct val="0"/>
              </a:spcBef>
            </a:pPr>
            <a:r>
              <a:rPr lang="en-US" sz="3234" b="1" spc="-38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Expand to global scenes (UK, France, Brazil, South Africa).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908362" y="5342310"/>
            <a:ext cx="7686912" cy="1128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27"/>
              </a:lnSpc>
              <a:spcBef>
                <a:spcPct val="0"/>
              </a:spcBef>
            </a:pPr>
            <a:r>
              <a:rPr lang="en-US" sz="3234" b="1" spc="-38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Explore TikTok virality and social media signals.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994793" y="7012738"/>
            <a:ext cx="7686912" cy="1700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27"/>
              </a:lnSpc>
              <a:spcBef>
                <a:spcPct val="0"/>
              </a:spcBef>
            </a:pPr>
            <a:r>
              <a:rPr lang="en-US" sz="3234" b="1" spc="-38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Build a dashboard for label executives to filter artists by city, genre, and hit probability.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25A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57121" y="1603615"/>
            <a:ext cx="10573757" cy="5773245"/>
          </a:xfrm>
          <a:custGeom>
            <a:avLst/>
            <a:gdLst/>
            <a:ahLst/>
            <a:cxnLst/>
            <a:rect l="l" t="t" r="r" b="b"/>
            <a:pathLst>
              <a:path w="10925244" h="6106662">
                <a:moveTo>
                  <a:pt x="0" y="0"/>
                </a:moveTo>
                <a:lnTo>
                  <a:pt x="10925243" y="0"/>
                </a:lnTo>
                <a:lnTo>
                  <a:pt x="10925243" y="6106662"/>
                </a:lnTo>
                <a:lnTo>
                  <a:pt x="0" y="61066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852" r="-2872" b="-15845"/>
            </a:stretch>
          </a:blipFill>
        </p:spPr>
        <p:txBody>
          <a:bodyPr/>
          <a:lstStyle/>
          <a:p>
            <a:endParaRPr lang="fr-ES"/>
          </a:p>
        </p:txBody>
      </p:sp>
      <p:sp>
        <p:nvSpPr>
          <p:cNvPr id="3" name="TextBox 3"/>
          <p:cNvSpPr txBox="1"/>
          <p:nvPr/>
        </p:nvSpPr>
        <p:spPr>
          <a:xfrm>
            <a:off x="7086600" y="615315"/>
            <a:ext cx="4408131" cy="7315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dirty="0">
                <a:solidFill>
                  <a:srgbClr val="F9FAFC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YOU!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46347" y="7550006"/>
            <a:ext cx="8797652" cy="26284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2400" dirty="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Eloise Bouton</a:t>
            </a:r>
          </a:p>
          <a:p>
            <a:pPr>
              <a:lnSpc>
                <a:spcPts val="4200"/>
              </a:lnSpc>
            </a:pPr>
            <a:r>
              <a:rPr lang="en-US" sz="2400" dirty="0">
                <a:solidFill>
                  <a:srgbClr val="F068FD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https://www.linkedin.com/in/eloisebouton/</a:t>
            </a:r>
            <a:r>
              <a:rPr lang="en-US" sz="2400" dirty="0">
                <a:solidFill>
                  <a:srgbClr val="F068F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>
              <a:lnSpc>
                <a:spcPts val="4200"/>
              </a:lnSpc>
            </a:pPr>
            <a:r>
              <a:rPr lang="en-US" sz="2400" dirty="0">
                <a:solidFill>
                  <a:srgbClr val="F9FAFC"/>
                </a:solidFill>
                <a:latin typeface="Arial"/>
                <a:ea typeface="Arial"/>
                <a:cs typeface="Arial"/>
                <a:sym typeface="Arial"/>
              </a:rPr>
              <a:t>Project report: </a:t>
            </a:r>
            <a:r>
              <a:rPr lang="en-US" sz="2400" dirty="0">
                <a:solidFill>
                  <a:srgbClr val="F068FD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https://github.com/eloiseelle/capstone/blob/41b1b23f8e838fcfd516d93009e6f58c3721ab5d/06_capstone_final_report.pdf</a:t>
            </a:r>
            <a:r>
              <a:rPr lang="en-US" sz="2400" dirty="0">
                <a:solidFill>
                  <a:srgbClr val="F068F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2400" u="sng" dirty="0">
              <a:solidFill>
                <a:srgbClr val="F068FD"/>
              </a:solidFill>
              <a:latin typeface="Arial"/>
              <a:ea typeface="Arial"/>
              <a:cs typeface="Arial"/>
              <a:sym typeface="Arial"/>
              <a:hlinkClick r:id="rId4" tooltip="https://github.com/eloiseelle/capstone/blob/41b1b23f8e838fcfd516d93009e6f58c3721ab5d/06_capstone_final_report.pdf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056CC87-E991-976C-DFAC-E5A79395D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606</Words>
  <Application>Microsoft Macintosh PowerPoint</Application>
  <PresentationFormat>Personnalisé</PresentationFormat>
  <Paragraphs>74</Paragraphs>
  <Slides>18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8" baseType="lpstr">
      <vt:lpstr>Aptos</vt:lpstr>
      <vt:lpstr>Open Sauce</vt:lpstr>
      <vt:lpstr>Bricolage Grotesque Bold</vt:lpstr>
      <vt:lpstr>Arial Bold</vt:lpstr>
      <vt:lpstr>Arial</vt:lpstr>
      <vt:lpstr>Recoleta</vt:lpstr>
      <vt:lpstr>Anton</vt:lpstr>
      <vt:lpstr>Archivo Black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Mapping the Rise: Streaming Success of Female Rappers by City</dc:title>
  <cp:lastModifiedBy>Éloïse Elle</cp:lastModifiedBy>
  <cp:revision>3</cp:revision>
  <dcterms:created xsi:type="dcterms:W3CDTF">2006-08-16T00:00:00Z</dcterms:created>
  <dcterms:modified xsi:type="dcterms:W3CDTF">2025-09-04T08:16:59Z</dcterms:modified>
  <dc:identifier>DAGt5E04Ewc</dc:identifier>
</cp:coreProperties>
</file>